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781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-2011680"/>
            <a:ext cx="5029200" cy="5029200"/>
          </a:xfrm>
          <a:prstGeom prst="ellipse">
            <a:avLst/>
          </a:prstGeom>
          <a:solidFill>
            <a:srgbClr val="112244"/>
          </a:solidFill>
          <a:ln w="190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-1280160"/>
            <a:ext cx="3474720" cy="34747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1D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0" y="-548640"/>
            <a:ext cx="2011680" cy="2011680"/>
          </a:xfrm>
          <a:prstGeom prst="ellipse">
            <a:avLst/>
          </a:prstGeom>
          <a:solidFill>
            <a:srgbClr val="1D5FC4">
              <a:alpha val="40000"/>
            </a:srgbClr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34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231136" y="1234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Modernizing Hospital Operations Through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Digital Infrastructure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" y="2944368"/>
            <a:ext cx="4389120" cy="2286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10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PulsePoint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670048" cy="338328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45720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53619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" y="1883664"/>
            <a:ext cx="230428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4360" y="1993392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0664" y="193852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Indian hospitals still rely on disconnected, manual systems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0664" y="265176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 and data silos cost hospitals ₹10L+ annually per facility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419856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0664" y="336499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35% of their shift on administrative tasks, not patient care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89888"/>
            <a:ext cx="2670048" cy="338328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91840" y="1389888"/>
            <a:ext cx="45720" cy="338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56432" y="153619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56432" y="1883664"/>
            <a:ext cx="230428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74720" y="1993392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21024" y="193852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PulsePoint is a unified, microservices-based Hospital Management System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706624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21024" y="265176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integrated services covering every hospital workflow end-to-end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341985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21024" y="336499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access for 6 staff types — each seeing only what they need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389888"/>
            <a:ext cx="2670048" cy="338328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72200" y="1389888"/>
            <a:ext cx="45720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36792" y="153619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36792" y="1883664"/>
            <a:ext cx="2304288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55080" y="199339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01384" y="193852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reduction in administrative overhead from day one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70662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01384" y="265176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billing handoffs — every charge auto-linked to invoice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55080" y="341985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01384" y="336499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 achieved within 90 days for a 100-bed hospital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38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Are Losing Time, Money,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Lives to Outdated Systems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67004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45720" cy="329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6072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029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Leakage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377440"/>
            <a:ext cx="2395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 entries, missed charges, and untracked medicines drain revenue every single day. Insurance rejections multiply due to documentation errors.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" y="3493008"/>
            <a:ext cx="2395728" cy="749808"/>
          </a:xfrm>
          <a:prstGeom prst="rect">
            <a:avLst/>
          </a:prstGeom>
          <a:solidFill>
            <a:srgbClr val="EDF4FF"/>
          </a:solidFill>
          <a:ln w="9525">
            <a:solidFill>
              <a:srgbClr val="D1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6072" y="35478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" y="393192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loss per facility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7004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91840" y="1572768"/>
            <a:ext cx="45720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56432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2029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Inefficiency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2377440"/>
            <a:ext cx="2395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and receptionists spend over a third of their workday on administrative tasks. Appointment scheduling still done via phone calls and physical registers.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56432" y="3493008"/>
            <a:ext cx="2395728" cy="749808"/>
          </a:xfrm>
          <a:prstGeom prst="rect">
            <a:avLst/>
          </a:prstGeom>
          <a:solidFill>
            <a:srgbClr val="EDF4FF"/>
          </a:solidFill>
          <a:ln w="9525">
            <a:solidFill>
              <a:srgbClr val="D1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56432" y="35478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56432" y="393192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shift lost to paperwork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72200" y="1572768"/>
            <a:ext cx="267004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72200" y="1572768"/>
            <a:ext cx="45720" cy="329184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36792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6792" y="2029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Data Silos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36792" y="2377440"/>
            <a:ext cx="2395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lab results, prescriptions, and billing exist in separate systems with no connection. Critical data is unavailable when clinicians need it most.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36792" y="3493008"/>
            <a:ext cx="2395728" cy="749808"/>
          </a:xfrm>
          <a:prstGeom prst="rect">
            <a:avLst/>
          </a:prstGeom>
          <a:solidFill>
            <a:srgbClr val="EDF4FF"/>
          </a:solidFill>
          <a:ln w="9525">
            <a:solidFill>
              <a:srgbClr val="D1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36792" y="35478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36792" y="393192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per hospital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 86% of medical errors are caused by miscommunication during care transitions."   — McKinsey Global Institute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10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$50B Problem With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Solution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657600" cy="74980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457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$50.6B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HMS market in 2024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3657600" cy="74980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496312"/>
            <a:ext cx="457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5877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CAGR through 2030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364992"/>
            <a:ext cx="3657600" cy="74980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3364992"/>
            <a:ext cx="457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across India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233672"/>
            <a:ext cx="3657600" cy="74980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4233672"/>
            <a:ext cx="457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43251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manual workflows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07408" y="15727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7408" y="1938528"/>
            <a:ext cx="4315968" cy="65836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07408" y="1938528"/>
            <a:ext cx="45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90288" y="200253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0288" y="220370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 — ₹50L–1Cr+ implementation. Inaccessible to 90% of hospitals.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07408" y="2706624"/>
            <a:ext cx="4315968" cy="65836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07408" y="2706624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90288" y="277063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Bundling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90288" y="297180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purchase the entire suite. Hospitals pay for dozens of features they never use.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07408" y="3474720"/>
            <a:ext cx="4315968" cy="65836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07408" y="3474720"/>
            <a:ext cx="45720" cy="658368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90288" y="353872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Design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90288" y="37398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Indian hospital workflows, local insurance, or regional compliance.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07408" y="4242816"/>
            <a:ext cx="4315968" cy="658368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407408" y="4242816"/>
            <a:ext cx="45720" cy="658368"/>
          </a:xfrm>
          <a:prstGeom prst="rect">
            <a:avLst/>
          </a:prstGeom>
          <a:solidFill>
            <a:srgbClr val="8BA4C0"/>
          </a:solidFill>
          <a:ln w="12700">
            <a:solidFill>
              <a:srgbClr val="8BA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90288" y="430682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Deployment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90288" y="450799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 implementation timelines and weeks of staff retraining required.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38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PulsePoint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Your Hospital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role-aware platform connecting every hospital department — from reception to billing — in real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1810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45720" cy="566928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6072" y="222199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2084832"/>
            <a:ext cx="1810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31720" y="2084832"/>
            <a:ext cx="45720" cy="56692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96312" y="222199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Mgmt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1810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761488"/>
            <a:ext cx="4572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6072" y="28986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2761488"/>
            <a:ext cx="1810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331720" y="2761488"/>
            <a:ext cx="457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96312" y="28986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1810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438144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6072" y="357530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1720" y="3438144"/>
            <a:ext cx="1810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331720" y="3438144"/>
            <a:ext cx="45720" cy="566928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96312" y="357530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Notifications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46451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enterprise-grade microservices architecture.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07408" y="292608"/>
            <a:ext cx="4407408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E8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407408" y="292608"/>
            <a:ext cx="4407408" cy="274320"/>
          </a:xfrm>
          <a:prstGeom prst="rect">
            <a:avLst/>
          </a:prstGeom>
          <a:solidFill>
            <a:srgbClr val="E8EFF8"/>
          </a:solidFill>
          <a:ln w="6350">
            <a:solidFill>
              <a:srgbClr val="CB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17136" y="384048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90872" y="384048"/>
            <a:ext cx="91440" cy="9144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64608" y="384048"/>
            <a:ext cx="91440" cy="91440"/>
          </a:xfrm>
          <a:prstGeom prst="ellipse">
            <a:avLst/>
          </a:prstGeom>
          <a:solidFill>
            <a:srgbClr val="43C168"/>
          </a:solidFill>
          <a:ln w="12700">
            <a:solidFill>
              <a:srgbClr val="43C1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047488" y="342900"/>
            <a:ext cx="2286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47488" y="3429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A4C0"/>
                </a:solidFill>
              </a:rPr>
              <a:t>pulsepoint.hospital.com</a:t>
            </a:r>
            <a:endParaRPr lang="en-US" sz="6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07408" y="566928"/>
            <a:ext cx="4407408" cy="2340864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4407408" y="2907792"/>
            <a:ext cx="4407408" cy="18288"/>
          </a:xfrm>
          <a:prstGeom prst="rect">
            <a:avLst/>
          </a:prstGeom>
          <a:solidFill>
            <a:srgbClr val="CBD8E8"/>
          </a:solidFill>
          <a:ln w="12700">
            <a:solidFill>
              <a:srgbClr val="CB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07408" y="2926080"/>
            <a:ext cx="2194560" cy="1170432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601968" y="2926080"/>
            <a:ext cx="18288" cy="1170432"/>
          </a:xfrm>
          <a:prstGeom prst="rect">
            <a:avLst/>
          </a:prstGeom>
          <a:solidFill>
            <a:srgbClr val="CBD8E8"/>
          </a:solidFill>
          <a:ln w="12700">
            <a:solidFill>
              <a:srgbClr val="CB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0256" y="2926080"/>
            <a:ext cx="2194560" cy="117043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407408" y="4133088"/>
            <a:ext cx="4407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hero, services, and doctors sections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10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Services.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91840" y="1536192"/>
            <a:ext cx="2560320" cy="475488"/>
          </a:xfrm>
          <a:prstGeom prst="rect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15361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2011680"/>
            <a:ext cx="54864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926080" y="2304288"/>
            <a:ext cx="3291840" cy="475488"/>
          </a:xfrm>
          <a:prstGeom prst="rect">
            <a:avLst/>
          </a:prstGeom>
          <a:solidFill>
            <a:srgbClr val="112244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0" y="2306491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:8090  —  JWT Validation  +  Role Header Injection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816352"/>
            <a:ext cx="2560320" cy="365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2816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Service Registry  :8761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3346704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6027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5688" y="3346704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75688" y="33832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75688" y="36027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39896" y="3346704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39896" y="33832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39896" y="36027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04104" y="3346704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04104" y="33832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04104" y="36027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068312" y="3346704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68312" y="33832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68312" y="36027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3968496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400507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2245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:8091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075688" y="3968496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4A9E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075688" y="400507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75688" y="42245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:8092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39896" y="3968496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8BA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739896" y="400507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39896" y="42245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Inter-svc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04104" y="3968496"/>
            <a:ext cx="1572768" cy="502920"/>
          </a:xfrm>
          <a:prstGeom prst="rect">
            <a:avLst/>
          </a:prstGeom>
          <a:solidFill>
            <a:srgbClr val="112244"/>
          </a:solidFill>
          <a:ln w="9525">
            <a:solidFill>
              <a:srgbClr val="8BA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04104" y="400507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04104" y="42245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38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Handoffs.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600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45720" cy="32461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41832" y="1719072"/>
            <a:ext cx="548640" cy="548640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183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377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Book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8346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registers patient and books appointment from available doctor slots.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2423160"/>
            <a:ext cx="118872" cy="54864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130552" y="1572768"/>
            <a:ext cx="1600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130552" y="1572768"/>
            <a:ext cx="45720" cy="32461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660904" y="1719072"/>
            <a:ext cx="548640" cy="548640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660904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2377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&amp; Complete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0280" y="28346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completes appointment. Invoice is auto-generated instantly at this point.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0280" y="4343400"/>
            <a:ext cx="1389888" cy="201168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240280" y="4343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730752" y="2423160"/>
            <a:ext cx="118872" cy="54864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9624" y="1572768"/>
            <a:ext cx="1600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9624" y="1572768"/>
            <a:ext cx="45720" cy="32461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79976" y="1719072"/>
            <a:ext cx="548640" cy="548640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79976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59352" y="2377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 &amp; Order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59352" y="28346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writes prescription and orders lab tests. Invoice lab fee updated automatically.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59352" y="4343400"/>
            <a:ext cx="1389888" cy="201168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59352" y="4343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5449824" y="2423160"/>
            <a:ext cx="118872" cy="54864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68696" y="1572768"/>
            <a:ext cx="1600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568696" y="1572768"/>
            <a:ext cx="45720" cy="32461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099048" y="1719072"/>
            <a:ext cx="548640" cy="548640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99048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78424" y="2377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 &amp; Test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78424" y="28346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dispenses medicines, lab runs tests and uploads results. Invoice updated.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78424" y="4343400"/>
            <a:ext cx="1389888" cy="201168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78424" y="4343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7168896" y="2423160"/>
            <a:ext cx="118872" cy="54864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87768" y="1572768"/>
            <a:ext cx="1600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287768" y="1572768"/>
            <a:ext cx="45720" cy="32461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818120" y="1719072"/>
            <a:ext cx="548640" cy="548640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81812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97496" y="2377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Claim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97496" y="28346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confirmed. Mediclaim submitted if applicable. Notifications sent throughout.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used to take 3 departments, 6 handoffs, and 2 hours now happens in minutes — automatically."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10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Experience.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2724912" cy="1508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2724912" cy="54864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2359152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across all departments. Manage staff, monitor workflows, access system-wide reports and analytics.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10128" y="1627632"/>
            <a:ext cx="2724912" cy="1508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10128" y="1627632"/>
            <a:ext cx="272491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93008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2103120"/>
            <a:ext cx="2359152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93008" y="219456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patients, not paperwork. Write prescriptions, order lab tests, manage schedule — in one place.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24912" cy="1508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7249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91656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91656" y="2103120"/>
            <a:ext cx="2359152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91656" y="2194560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front desk efficiently. Register patients, book appointments, manage invoices seamlessly.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200400"/>
            <a:ext cx="2724912" cy="1508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272491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3364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675888"/>
            <a:ext cx="2359152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76732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of pending dispense requests. Live inventory management and instant invoice updates.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10128" y="3200400"/>
            <a:ext cx="2724912" cy="1508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10128" y="3200400"/>
            <a:ext cx="2724912" cy="54864"/>
          </a:xfrm>
          <a:prstGeom prst="rect">
            <a:avLst/>
          </a:prstGeom>
          <a:solidFill>
            <a:srgbClr val="4A9EE0"/>
          </a:solidFill>
          <a:ln w="12700">
            <a:solidFill>
              <a:srgbClr val="4A9E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93008" y="3364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93008" y="3675888"/>
            <a:ext cx="2359152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93008" y="376732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test orders from sample collection to result upload. Track every test in the pipeline digitally.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8776" y="3200400"/>
            <a:ext cx="2724912" cy="150876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208776" y="3200400"/>
            <a:ext cx="272491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91656" y="3364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91656" y="3675888"/>
            <a:ext cx="2359152" cy="1828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91656" y="376732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 about your own care. View reports, track appointments, make payments, apply for mediclaim.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role sees exactly what they need. Nothing more. Nothing less."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38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Compromise.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8912" y="1536192"/>
            <a:ext cx="402336" cy="40233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15544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9264" y="1764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verified over HTTPS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" y="2011680"/>
            <a:ext cx="36576" cy="18288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8912" y="2194560"/>
            <a:ext cx="402336" cy="40233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" y="22128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9264" y="2423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15 min  —  Refresh: 8 hrs with rotation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" y="2670048"/>
            <a:ext cx="36576" cy="18288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8912" y="2852928"/>
            <a:ext cx="402336" cy="40233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28712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9264" y="3081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verified — invalid tokens rejected instantly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" y="3328416"/>
            <a:ext cx="36576" cy="18288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8912" y="3511296"/>
            <a:ext cx="402336" cy="40233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891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" y="352958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9264" y="37398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cannot access billing — siloed by design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" y="3986784"/>
            <a:ext cx="36576" cy="18288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38912" y="4169664"/>
            <a:ext cx="402336" cy="40233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891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" y="41879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9264" y="43982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all security layers pass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26280" y="1417320"/>
            <a:ext cx="4251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26280" y="1417320"/>
            <a:ext cx="45720" cy="7315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09160" y="152704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178308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microservice trusts another without full verification at the gateway on every request.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26280" y="2258568"/>
            <a:ext cx="4251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26280" y="2258568"/>
            <a:ext cx="45720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9160" y="236829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Rotation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9160" y="262432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refresh tokens are detected and invalidated automatically on the next legitimate use.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26280" y="3099816"/>
            <a:ext cx="4251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26280" y="3099816"/>
            <a:ext cx="4572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09160" y="320954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Databases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09160" y="346557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data breach cannot expose billing or authentication data — fully isolated per service.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26280" y="3941064"/>
            <a:ext cx="4251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526280" y="3941064"/>
            <a:ext cx="457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09160" y="405079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Flow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9160" y="430682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token-based password reset — time-limited, single-use, and fully encrypted.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patient data is not just stored. It is protected at every layer."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20040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10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Different.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8321040" cy="36576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1572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8321040" cy="393192"/>
          </a:xfrm>
          <a:prstGeom prst="rect">
            <a:avLst/>
          </a:prstGeom>
          <a:solidFill>
            <a:srgbClr val="112244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19568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19568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 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31720"/>
            <a:ext cx="8321040" cy="393192"/>
          </a:xfrm>
          <a:prstGeom prst="rect">
            <a:avLst/>
          </a:prstGeom>
          <a:solidFill>
            <a:srgbClr val="0D1F3C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3500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3500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 – 1Cr+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23500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pricing  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724912"/>
            <a:ext cx="8321040" cy="393192"/>
          </a:xfrm>
          <a:prstGeom prst="rect">
            <a:avLst/>
          </a:prstGeom>
          <a:solidFill>
            <a:srgbClr val="112244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27432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27432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login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7432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granular roles  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118104"/>
            <a:ext cx="8321040" cy="393192"/>
          </a:xfrm>
          <a:prstGeom prst="rect">
            <a:avLst/>
          </a:prstGeom>
          <a:solidFill>
            <a:srgbClr val="0D1F3C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31363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Inter-dept Automation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0" y="31363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manual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1363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 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511296"/>
            <a:ext cx="8321040" cy="393192"/>
          </a:xfrm>
          <a:prstGeom prst="rect">
            <a:avLst/>
          </a:prstGeom>
          <a:solidFill>
            <a:srgbClr val="112244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" y="3529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Accuracy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0" y="3529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Error-prone, manual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29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 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904488"/>
            <a:ext cx="8321040" cy="393192"/>
          </a:xfrm>
          <a:prstGeom prst="rect">
            <a:avLst/>
          </a:prstGeom>
          <a:solidFill>
            <a:srgbClr val="0D1F3C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" y="39227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0" y="39227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/ password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39227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token rotation  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297680"/>
            <a:ext cx="8321040" cy="393192"/>
          </a:xfrm>
          <a:prstGeom prst="rect">
            <a:avLst/>
          </a:prstGeom>
          <a:solidFill>
            <a:srgbClr val="112244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" y="43159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0" y="43159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Monolithic, inflexible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3159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modular  ✔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just better software — a fundamentally different approach to hospital management."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2064" y="338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PulsePoint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724912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2724912" cy="54864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6072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Administrative Cost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82296" cy="8229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212140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 eliminates manual data entry entirely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688336"/>
            <a:ext cx="82296" cy="8229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263347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40% reduction in billing staff hours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82296" cy="8229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" y="314553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means fewer insurance claim rejections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" y="3694176"/>
            <a:ext cx="2395728" cy="420624"/>
          </a:xfrm>
          <a:prstGeom prst="rect">
            <a:avLst/>
          </a:prstGeom>
          <a:solidFill>
            <a:srgbClr val="EDF4FF"/>
          </a:solidFill>
          <a:ln w="9525">
            <a:solidFill>
              <a:srgbClr val="D1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6072" y="37124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6072" y="39319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admin overhead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10128" y="1572768"/>
            <a:ext cx="2724912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310128" y="1572768"/>
            <a:ext cx="272491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0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 Capture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93008" y="217627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48456" y="212140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prescription, test, and medicine auto-linked to invoice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93008" y="268833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48456" y="263347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revenue leakage from missed charges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93008" y="32004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48456" y="314553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invoice status per appointment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0" y="3694176"/>
            <a:ext cx="2395728" cy="420624"/>
          </a:xfrm>
          <a:prstGeom prst="rect">
            <a:avLst/>
          </a:prstGeom>
          <a:solidFill>
            <a:srgbClr val="EDF4FF"/>
          </a:solidFill>
          <a:ln w="9525">
            <a:solidFill>
              <a:srgbClr val="D1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0" y="37124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474720" y="39319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 handoffs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08776" y="1572768"/>
            <a:ext cx="2724912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208776" y="1572768"/>
            <a:ext cx="27249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73368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Patient Throughput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91656" y="21762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47104" y="212140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Appointment-to-discharge workflow reduced by 60%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91656" y="2688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47104" y="263347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 served per day per doctor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91656" y="32004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47104" y="314553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patient satisfaction and hospital reputation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73368" y="3694176"/>
            <a:ext cx="2395728" cy="420624"/>
          </a:xfrm>
          <a:prstGeom prst="rect">
            <a:avLst/>
          </a:prstGeom>
          <a:solidFill>
            <a:srgbClr val="EDF4FF"/>
          </a:solidFill>
          <a:ln w="9525">
            <a:solidFill>
              <a:srgbClr val="D1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73368" y="37124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373368" y="39319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patient workflow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4315968"/>
            <a:ext cx="83210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94360" y="43616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deployed, all staff onboarded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15768" y="43616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15768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departments fully live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37176" y="43616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37176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drop in billing errors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58584" y="43616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58584" y="4553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 achieved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1645920"/>
            <a:ext cx="4754880" cy="4754880"/>
          </a:xfrm>
          <a:prstGeom prst="ellipse">
            <a:avLst/>
          </a:prstGeom>
          <a:solidFill>
            <a:srgbClr val="112244"/>
          </a:solidFill>
          <a:ln w="190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731520"/>
            <a:ext cx="2926080" cy="2926080"/>
          </a:xfrm>
          <a:prstGeom prst="ellipse">
            <a:avLst/>
          </a:prstGeom>
          <a:solidFill>
            <a:srgbClr val="1D5FC4">
              <a:alpha val="20000"/>
            </a:srgbClr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36576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2064" y="310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Bring PulsePoint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Hospital.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724912" cy="283464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2724912" cy="457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481328" y="1719072"/>
            <a:ext cx="585216" cy="58521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81328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—  Month 1–2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" y="2852928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8952" y="280720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one department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" y="3273552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8952" y="32278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staff training included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" y="369417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8952" y="364845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disruption to existing flow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" y="411480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8952" y="4069080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results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0128" y="1600200"/>
            <a:ext cx="2724912" cy="283464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310128" y="1600200"/>
            <a:ext cx="2724912" cy="457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379976" y="1719072"/>
            <a:ext cx="585216" cy="58521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379976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  —  Month 3–4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11296" y="2852928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0" y="280720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roles and 9 modules live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11296" y="3273552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0" y="32278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systems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11296" y="369417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0" y="364845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11296" y="411480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57600" y="4069080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dashboard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08776" y="1600200"/>
            <a:ext cx="2724912" cy="2834640"/>
          </a:xfrm>
          <a:prstGeom prst="rect">
            <a:avLst/>
          </a:prstGeom>
          <a:solidFill>
            <a:srgbClr val="112244"/>
          </a:solidFill>
          <a:ln w="9525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08776" y="1600200"/>
            <a:ext cx="2724912" cy="45720"/>
          </a:xfrm>
          <a:prstGeom prst="rect">
            <a:avLst/>
          </a:prstGeom>
          <a:solidFill>
            <a:srgbClr val="1D5FC4"/>
          </a:solidFill>
          <a:ln w="12700">
            <a:solidFill>
              <a:srgbClr val="1D5F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278624" y="1719072"/>
            <a:ext cx="585216" cy="585216"/>
          </a:xfrm>
          <a:prstGeom prst="ellipse">
            <a:avLst/>
          </a:prstGeom>
          <a:solidFill>
            <a:srgbClr val="1D5FC4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278624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73368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—  Month 5+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9944" y="2852928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56248" y="280720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support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09944" y="3273552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56248" y="32278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feature development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09944" y="369417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556248" y="364845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reporting suite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9944" y="411480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56248" y="4069080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rollout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4572000"/>
            <a:ext cx="8321040" cy="420624"/>
          </a:xfrm>
          <a:prstGeom prst="rect">
            <a:avLst/>
          </a:prstGeom>
          <a:solidFill>
            <a:srgbClr val="1D5FC4"/>
          </a:solidFill>
          <a:ln w="9525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11480" y="45720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Live Demo  —  See PulsePoint Running with Your Real Hospital Workflows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1222</Words>
  <Application>Microsoft Office PowerPoint</Application>
  <PresentationFormat>On-screen Show (16:9)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PulsePoint — Business Proposal</dc:title>
  <dc:subject>PptxGenJS Presentation</dc:subject>
  <dc:creator>Team 6</dc:creator>
  <cp:lastModifiedBy>Pal, Srijit (Contractor)</cp:lastModifiedBy>
  <cp:revision>2</cp:revision>
  <dcterms:created xsi:type="dcterms:W3CDTF">2026-05-16T07:11:46Z</dcterms:created>
  <dcterms:modified xsi:type="dcterms:W3CDTF">2026-05-17T13:12:03Z</dcterms:modified>
</cp:coreProperties>
</file>